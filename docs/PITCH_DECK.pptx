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06A61"/>
            </a:gs>
            <a:gs pos="100000">
              <a:srgbClr val="00453F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1188720"/>
            <a:ext cx="5120640" cy="384048"/>
          </a:xfrm>
          <a:prstGeom prst="roundRect">
            <a:avLst>
              <a:gd name="adj" fmla="val 50000"/>
            </a:avLst>
          </a:prstGeom>
          <a:solidFill>
            <a:srgbClr val="86F2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06F66"/>
                </a:solidFill>
                <a:latin typeface="Segoe UI"/>
              </a:rPr>
              <a:t>KINGDOM HACK 3.0  ·  SMART CITY INNOVATION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92024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>
                <a:solidFill>
                  <a:srgbClr val="FFFFFF"/>
                </a:solidFill>
                <a:latin typeface="Segoe UI"/>
              </a:rPr>
              <a:t>SCMS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4612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86F2E4"/>
                </a:solidFill>
                <a:latin typeface="Segoe UI"/>
              </a:rPr>
              <a:t>Real-time navigation, parking, and safety for Redemption City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212080"/>
            <a:ext cx="7772400" cy="15240"/>
          </a:xfrm>
          <a:prstGeom prst="rect">
            <a:avLst/>
          </a:prstGeom>
          <a:solidFill>
            <a:srgbClr val="4DA8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44068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E3FAF6"/>
                </a:solidFill>
                <a:latin typeface="Segoe UI"/>
              </a:rPr>
              <a:t>Built for Redemption City, the RCCG camp ground on the Lagos–Ibadan Expressway (6.825889°N, 3.462819°E). One app for visitors, drivers, wardens, and camp administration.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6A61"/>
                </a:solidFill>
                <a:latin typeface="Segoe U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91C1E"/>
                </a:solidFill>
                <a:latin typeface="Segoe UI"/>
              </a:rPr>
              <a:t>Redemption City runs on radios and guesswork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45464D"/>
                </a:solidFill>
                <a:latin typeface="Segoe UI"/>
              </a:rPr>
              <a:t>At Holy Ghost Congress scale, hundreds of thousands of people move through one ground, and the camp still has no live picture of what's happening on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31720"/>
            <a:ext cx="5394960" cy="1600200"/>
          </a:xfrm>
          <a:prstGeom prst="round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91440" cy="1600200"/>
          </a:xfrm>
          <a:prstGeom prst="rect">
            <a:avLst/>
          </a:prstGeom>
          <a:solidFill>
            <a:srgbClr val="006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19" y="249631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6A61"/>
                </a:solidFill>
                <a:latin typeface="Segoe UI"/>
              </a:rPr>
              <a:t>Visitors get lost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19" y="2880360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5464D"/>
                </a:solidFill>
                <a:latin typeface="Segoe UI"/>
              </a:rPr>
              <a:t>No reliable way to find a gate, the auditorium, the food court, or a restroom across grounds this large.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2331720"/>
            <a:ext cx="5394960" cy="1600200"/>
          </a:xfrm>
          <a:prstGeom prst="round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2331720"/>
            <a:ext cx="91440" cy="1600200"/>
          </a:xfrm>
          <a:prstGeom prst="rect">
            <a:avLst/>
          </a:prstGeom>
          <a:solidFill>
            <a:srgbClr val="006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49631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6A61"/>
                </a:solidFill>
                <a:latin typeface="Segoe UI"/>
              </a:rPr>
              <a:t>Drivers circle aimlessly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880360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5464D"/>
                </a:solidFill>
                <a:latin typeface="Segoe UI"/>
              </a:rPr>
              <a:t>No visibility into which parking area still has space, so vehicles back up at the gates while other zones sit half empty.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160520"/>
            <a:ext cx="5394960" cy="1600200"/>
          </a:xfrm>
          <a:prstGeom prst="round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160520"/>
            <a:ext cx="91440" cy="1600200"/>
          </a:xfrm>
          <a:prstGeom prst="rect">
            <a:avLst/>
          </a:prstGeom>
          <a:solidFill>
            <a:srgbClr val="006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19" y="432511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6A61"/>
                </a:solidFill>
                <a:latin typeface="Segoe UI"/>
              </a:rPr>
              <a:t>Wardens coordinate by radio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19" y="4709159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5464D"/>
                </a:solidFill>
                <a:latin typeface="Segoe UI"/>
              </a:rPr>
              <a:t>Incidents and hazards get reported verbally, with no record of what happened, when, or who responded.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4160520"/>
            <a:ext cx="5394960" cy="1600200"/>
          </a:xfrm>
          <a:prstGeom prst="round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80760" y="4160520"/>
            <a:ext cx="91440" cy="1600200"/>
          </a:xfrm>
          <a:prstGeom prst="rect">
            <a:avLst/>
          </a:prstGeom>
          <a:solidFill>
            <a:srgbClr val="006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32511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6A61"/>
                </a:solidFill>
                <a:latin typeface="Segoe UI"/>
              </a:rPr>
              <a:t>Camp administration flies blind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709159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5464D"/>
                </a:solidFill>
                <a:latin typeface="Segoe UI"/>
              </a:rPr>
              <a:t>No real-time view of zone occupancy or warden deployment during peak congestion.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C6CD"/>
                </a:solidFill>
                <a:latin typeface="Segoe UI"/>
              </a:rPr>
              <a:t>SCMS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C6C6CD"/>
                </a:solidFill>
                <a:latin typeface="Segoe U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6A61"/>
                </a:solidFill>
                <a:latin typeface="Segoe UI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91C1E"/>
                </a:solidFill>
                <a:latin typeface="Segoe UI"/>
              </a:rPr>
              <a:t>One app, four people it serves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5464D"/>
                </a:solidFill>
                <a:latin typeface="Segoe UI"/>
              </a:rPr>
              <a:t>SCMS connects what's happening on the ground to everyone who needs to know it, in real time.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80"/>
            <a:ext cx="2606040" cy="3383280"/>
          </a:xfrm>
          <a:prstGeom prst="roundRect">
            <a:avLst/>
          </a:prstGeom>
          <a:solidFill>
            <a:srgbClr val="006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46888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6F2E4"/>
                </a:solidFill>
                <a:latin typeface="Segoe UI"/>
              </a:rPr>
              <a:t>VISITOR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926080"/>
            <a:ext cx="2148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FFFFFF"/>
                </a:solidFill>
                <a:latin typeface="Segoe UI"/>
              </a:rPr>
              <a:t>Opens an anonymous map and finds their way from gate to auditorium to food court to restroom. No login at all.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2240280"/>
            <a:ext cx="2606040" cy="3383280"/>
          </a:xfrm>
          <a:prstGeom prst="roundRect">
            <a:avLst/>
          </a:prstGeom>
          <a:solidFill>
            <a:srgbClr val="004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46888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6F2E4"/>
                </a:solidFill>
                <a:latin typeface="Segoe UI"/>
              </a:rPr>
              <a:t>DRIVER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926080"/>
            <a:ext cx="2148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FFFFFF"/>
                </a:solidFill>
                <a:latin typeface="Segoe UI"/>
              </a:rPr>
              <a:t>Sees live status of every parking zone and gets routed to whichever one is actually open.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240280"/>
            <a:ext cx="2606040" cy="3383280"/>
          </a:xfrm>
          <a:prstGeom prst="roundRect">
            <a:avLst/>
          </a:prstGeom>
          <a:solidFill>
            <a:srgbClr val="006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46888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6F2E4"/>
                </a:solidFill>
                <a:latin typeface="Segoe UI"/>
              </a:rPr>
              <a:t>WARDEN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926080"/>
            <a:ext cx="2148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FFFFFF"/>
                </a:solidFill>
                <a:latin typeface="Segoe UI"/>
              </a:rPr>
              <a:t>Updates a zone's status in one tap, broadcasts alerts, and logs incidents straight from their phone.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840" y="2240280"/>
            <a:ext cx="2606040" cy="3383280"/>
          </a:xfrm>
          <a:prstGeom prst="roundRect">
            <a:avLst/>
          </a:prstGeom>
          <a:solidFill>
            <a:srgbClr val="004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246888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6F2E4"/>
                </a:solidFill>
                <a:latin typeface="Segoe UI"/>
              </a:rPr>
              <a:t>CAMP ADMIN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2926080"/>
            <a:ext cx="2148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FFFFFF"/>
                </a:solidFill>
                <a:latin typeface="Segoe UI"/>
              </a:rPr>
              <a:t>Watches warden deployment and zone occupancy across the whole camp, live, during peak events.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C6CD"/>
                </a:solidFill>
                <a:latin typeface="Segoe UI"/>
              </a:rPr>
              <a:t>SCMS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C6C6CD"/>
                </a:solidFill>
                <a:latin typeface="Segoe U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6A61"/>
                </a:solidFill>
                <a:latin typeface="Segoe UI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91C1E"/>
                </a:solidFill>
                <a:latin typeface="Segoe UI"/>
              </a:rPr>
              <a:t>Built on a real-time backbone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006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9163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91C1E"/>
                </a:solidFill>
                <a:latin typeface="Segoe UI"/>
              </a:rPr>
              <a:t>Live campus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103120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45464D"/>
                </a:solidFill>
                <a:latin typeface="Segoe UI"/>
              </a:rPr>
              <a:t>Zones, gates, and landmarks served straight from the database, no hardcoded assets in the app.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788920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006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743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91C1E"/>
                </a:solidFill>
                <a:latin typeface="Segoe UI"/>
              </a:rPr>
              <a:t>Parking that updates itself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154679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45464D"/>
                </a:solidFill>
                <a:latin typeface="Segoe UI"/>
              </a:rPr>
              <a:t>A warden marks a zone full, and every driver's map recolors within seconds over a live socket connection.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840479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006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79475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91C1E"/>
                </a:solidFill>
                <a:latin typeface="Segoe UI"/>
              </a:rPr>
              <a:t>Alerts and incidents, logged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206240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45464D"/>
                </a:solidFill>
                <a:latin typeface="Segoe UI"/>
              </a:rPr>
              <a:t>Broadcasts and incident reports are timestamped and pushed instantly, replacing word-of-mouth radio calls.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892040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006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846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91C1E"/>
                </a:solidFill>
                <a:latin typeface="Segoe UI"/>
              </a:rPr>
              <a:t>Nearest-zone recommendation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257800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45464D"/>
                </a:solidFill>
                <a:latin typeface="Segoe UI"/>
              </a:rPr>
              <a:t>A distance and occupancy heuristic ranks parking zones for a driver, so they're not guessing where to go.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C6CD"/>
                </a:solidFill>
                <a:latin typeface="Segoe UI"/>
              </a:rPr>
              <a:t>SCMS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C6C6CD"/>
                </a:solidFill>
                <a:latin typeface="Segoe U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6A61"/>
                </a:solidFill>
                <a:latin typeface="Segoe UI"/>
              </a:rPr>
              <a:t>NOT GENERIC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91C1E"/>
                </a:solidFill>
                <a:latin typeface="Segoe UI"/>
              </a:rPr>
              <a:t>Modeled on the camp's real layout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5464D"/>
                </a:solidFill>
                <a:latin typeface="Segoe UI"/>
              </a:rPr>
              <a:t>Every zone, gate, and landmark in SCMS already matches a real place at Redemption City.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331720"/>
            <a:ext cx="91440" cy="1600200"/>
          </a:xfrm>
          <a:prstGeom prst="rect">
            <a:avLst/>
          </a:prstGeom>
          <a:solidFill>
            <a:srgbClr val="006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331720"/>
            <a:ext cx="5394960" cy="1600200"/>
          </a:xfrm>
          <a:prstGeom prst="round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331720"/>
            <a:ext cx="91440" cy="1600200"/>
          </a:xfrm>
          <a:prstGeom prst="rect">
            <a:avLst/>
          </a:prstGeom>
          <a:solidFill>
            <a:srgbClr val="006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19" y="249631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6A61"/>
                </a:solidFill>
                <a:latin typeface="Segoe UI"/>
              </a:rPr>
              <a:t>Parking zones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19" y="2880360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5464D"/>
                </a:solidFill>
                <a:latin typeface="Segoe UI"/>
              </a:rPr>
              <a:t>Main Car Park, Guest House Parking, Arena Overflow Parking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0760" y="2331720"/>
            <a:ext cx="91440" cy="1600200"/>
          </a:xfrm>
          <a:prstGeom prst="rect">
            <a:avLst/>
          </a:prstGeom>
          <a:solidFill>
            <a:srgbClr val="006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80760" y="2331720"/>
            <a:ext cx="5394960" cy="1600200"/>
          </a:xfrm>
          <a:prstGeom prst="round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80760" y="2331720"/>
            <a:ext cx="91440" cy="1600200"/>
          </a:xfrm>
          <a:prstGeom prst="rect">
            <a:avLst/>
          </a:prstGeom>
          <a:solidFill>
            <a:srgbClr val="006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49631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6A61"/>
                </a:solidFill>
                <a:latin typeface="Segoe UI"/>
              </a:rPr>
              <a:t>Venue ground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880360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5464D"/>
                </a:solidFill>
                <a:latin typeface="Segoe UI"/>
              </a:rPr>
              <a:t>Holy Ghost Auditorium Grounds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160520"/>
            <a:ext cx="91440" cy="1600200"/>
          </a:xfrm>
          <a:prstGeom prst="rect">
            <a:avLst/>
          </a:prstGeom>
          <a:solidFill>
            <a:srgbClr val="006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4160520"/>
            <a:ext cx="5394960" cy="1600200"/>
          </a:xfrm>
          <a:prstGeom prst="round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4160520"/>
            <a:ext cx="91440" cy="1600200"/>
          </a:xfrm>
          <a:prstGeom prst="rect">
            <a:avLst/>
          </a:prstGeom>
          <a:solidFill>
            <a:srgbClr val="006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19" y="432511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6A61"/>
                </a:solidFill>
                <a:latin typeface="Segoe UI"/>
              </a:rPr>
              <a:t>Gates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19" y="4709159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5464D"/>
                </a:solidFill>
                <a:latin typeface="Segoe UI"/>
              </a:rPr>
              <a:t>Main Entrance Gate, Eastern Exit Gate, VIP Gate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80760" y="4160520"/>
            <a:ext cx="91440" cy="1600200"/>
          </a:xfrm>
          <a:prstGeom prst="rect">
            <a:avLst/>
          </a:prstGeom>
          <a:solidFill>
            <a:srgbClr val="006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080760" y="4160520"/>
            <a:ext cx="5394960" cy="1600200"/>
          </a:xfrm>
          <a:prstGeom prst="round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80760" y="4160520"/>
            <a:ext cx="91440" cy="1600200"/>
          </a:xfrm>
          <a:prstGeom prst="rect">
            <a:avLst/>
          </a:prstGeom>
          <a:solidFill>
            <a:srgbClr val="006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32511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6A61"/>
                </a:solidFill>
                <a:latin typeface="Segoe UI"/>
              </a:rPr>
              <a:t>Landmarks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709159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5464D"/>
                </a:solidFill>
                <a:latin typeface="Segoe UI"/>
              </a:rPr>
              <a:t>Holy Ghost Auditorium, Redemption City Medical Centre, Camp Food Court, Admin Secretariat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C6CD"/>
                </a:solidFill>
                <a:latin typeface="Segoe UI"/>
              </a:rPr>
              <a:t>SCMS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C6C6CD"/>
                </a:solidFill>
                <a:latin typeface="Segoe U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6A61"/>
                </a:solidFill>
                <a:latin typeface="Segoe UI"/>
              </a:rPr>
              <a:t>TODAY VS. WITH SCMS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91C1E"/>
                </a:solidFill>
                <a:latin typeface="Segoe UI"/>
              </a:rPr>
              <a:t>What changes on the ground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91640"/>
            <a:ext cx="5349240" cy="502920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01368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5464D"/>
                </a:solidFill>
                <a:latin typeface="Segoe UI"/>
              </a:rPr>
              <a:t>TODAY AT REDEMPTION CITY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5989320" y="1691640"/>
            <a:ext cx="5349240" cy="502920"/>
          </a:xfrm>
          <a:prstGeom prst="rect">
            <a:avLst/>
          </a:prstGeom>
          <a:solidFill>
            <a:srgbClr val="006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0" y="1801368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WITH SCMS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94560"/>
            <a:ext cx="5349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6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359152"/>
            <a:ext cx="4892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45464D"/>
                </a:solidFill>
                <a:latin typeface="Segoe UI"/>
              </a:rPr>
              <a:t>Wardens coordinate by radio, with no record of incidents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89320" y="2194560"/>
            <a:ext cx="5349240" cy="960120"/>
          </a:xfrm>
          <a:prstGeom prst="rect">
            <a:avLst/>
          </a:prstGeom>
          <a:solidFill>
            <a:srgbClr val="F7F9FB"/>
          </a:solidFill>
          <a:ln w="12700">
            <a:solidFill>
              <a:srgbClr val="C6C6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2359152"/>
            <a:ext cx="4892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191C1E"/>
                </a:solidFill>
                <a:latin typeface="Segoe UI"/>
              </a:rPr>
              <a:t>Incidents and alerts are logged, timestamped, and broadcast instantly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154680"/>
            <a:ext cx="5349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6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319272"/>
            <a:ext cx="4892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45464D"/>
                </a:solidFill>
                <a:latin typeface="Segoe UI"/>
              </a:rPr>
              <a:t>No visitor-facing digital map of the camp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89320" y="3154680"/>
            <a:ext cx="5349240" cy="960120"/>
          </a:xfrm>
          <a:prstGeom prst="rect">
            <a:avLst/>
          </a:prstGeom>
          <a:solidFill>
            <a:srgbClr val="F7F9FB"/>
          </a:solidFill>
          <a:ln w="12700">
            <a:solidFill>
              <a:srgbClr val="C6C6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3319272"/>
            <a:ext cx="4892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191C1E"/>
                </a:solidFill>
                <a:latin typeface="Segoe UI"/>
              </a:rPr>
              <a:t>A live, anonymous map covering real zones, gates, and landmarks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114800"/>
            <a:ext cx="5349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6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279392"/>
            <a:ext cx="4892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45464D"/>
                </a:solidFill>
                <a:latin typeface="Segoe UI"/>
              </a:rPr>
              <a:t>No visibility into parking occupancy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89320" y="4114800"/>
            <a:ext cx="5349240" cy="960120"/>
          </a:xfrm>
          <a:prstGeom prst="rect">
            <a:avLst/>
          </a:prstGeom>
          <a:solidFill>
            <a:srgbClr val="F7F9FB"/>
          </a:solidFill>
          <a:ln w="12700">
            <a:solidFill>
              <a:srgbClr val="C6C6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4279392"/>
            <a:ext cx="4892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191C1E"/>
                </a:solidFill>
                <a:latin typeface="Segoe UI"/>
              </a:rPr>
              <a:t>Drivers see live zone status and get routed automatically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074920"/>
            <a:ext cx="5349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6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239512"/>
            <a:ext cx="4892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45464D"/>
                </a:solidFill>
                <a:latin typeface="Segoe UI"/>
              </a:rPr>
              <a:t>Generic maps only show the camp's general location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89320" y="5074920"/>
            <a:ext cx="5349240" cy="960120"/>
          </a:xfrm>
          <a:prstGeom prst="rect">
            <a:avLst/>
          </a:prstGeom>
          <a:solidFill>
            <a:srgbClr val="F7F9FB"/>
          </a:solidFill>
          <a:ln w="12700">
            <a:solidFill>
              <a:srgbClr val="C6C6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5239512"/>
            <a:ext cx="4892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191C1E"/>
                </a:solidFill>
                <a:latin typeface="Segoe UI"/>
              </a:rPr>
              <a:t>SCMS understands the camp's actual internal layout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C6CD"/>
                </a:solidFill>
                <a:latin typeface="Segoe UI"/>
              </a:rPr>
              <a:t>SCMS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C6C6CD"/>
                </a:solidFill>
                <a:latin typeface="Segoe U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6A61"/>
                </a:solidFill>
                <a:latin typeface="Segoe UI"/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91C1E"/>
                </a:solidFill>
                <a:latin typeface="Segoe UI"/>
              </a:rPr>
              <a:t>Built for one customer, on purpose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45464D"/>
                </a:solidFill>
                <a:latin typeface="Segoe UI"/>
              </a:rPr>
              <a:t>SCMS isn't a multi-tenant SaaS pitch. It's commissioned directly by RCCG as the operating body of Redemption City.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31720"/>
            <a:ext cx="5394960" cy="1600200"/>
          </a:xfrm>
          <a:prstGeom prst="round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91440" cy="1600200"/>
          </a:xfrm>
          <a:prstGeom prst="rect">
            <a:avLst/>
          </a:prstGeom>
          <a:solidFill>
            <a:srgbClr val="006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19" y="249631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6A61"/>
                </a:solidFill>
                <a:latin typeface="Segoe UI"/>
              </a:rPr>
              <a:t>Direct commission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19" y="2880360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5464D"/>
                </a:solidFill>
                <a:latin typeface="Segoe UI"/>
              </a:rPr>
              <a:t>A one-time build and handover, or an ongoing hosting and maintenance retainer tied to the camp's event calendar.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2331720"/>
            <a:ext cx="5394960" cy="1600200"/>
          </a:xfrm>
          <a:prstGeom prst="round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2331720"/>
            <a:ext cx="91440" cy="1600200"/>
          </a:xfrm>
          <a:prstGeom prst="rect">
            <a:avLst/>
          </a:prstGeom>
          <a:solidFill>
            <a:srgbClr val="006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49631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6A61"/>
                </a:solidFill>
                <a:latin typeface="Segoe UI"/>
              </a:rPr>
              <a:t>Optional data insights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880360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5464D"/>
                </a:solidFill>
                <a:latin typeface="Segoe UI"/>
              </a:rPr>
              <a:t>Anonymized occupancy and crowd-flow reports per event, to inform the camp's own future infrastructure decisions.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160520"/>
            <a:ext cx="5394960" cy="1600200"/>
          </a:xfrm>
          <a:prstGeom prst="round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160520"/>
            <a:ext cx="91440" cy="1600200"/>
          </a:xfrm>
          <a:prstGeom prst="rect">
            <a:avLst/>
          </a:prstGeom>
          <a:solidFill>
            <a:srgbClr val="006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19" y="432511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6A61"/>
                </a:solidFill>
                <a:latin typeface="Segoe UI"/>
              </a:rPr>
              <a:t>Proven before it scales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19" y="4709159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5464D"/>
                </a:solidFill>
                <a:latin typeface="Segoe UI"/>
              </a:rPr>
              <a:t>If this proves out at Redemption City, the same approach could extend to other RCCG provincial camps later.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4160520"/>
            <a:ext cx="5394960" cy="1600200"/>
          </a:xfrm>
          <a:prstGeom prst="round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80760" y="4160520"/>
            <a:ext cx="91440" cy="1600200"/>
          </a:xfrm>
          <a:prstGeom prst="rect">
            <a:avLst/>
          </a:prstGeom>
          <a:solidFill>
            <a:srgbClr val="006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32511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6A61"/>
                </a:solidFill>
                <a:latin typeface="Segoe UI"/>
              </a:rPr>
              <a:t>No privacy cost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709159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5464D"/>
                </a:solidFill>
                <a:latin typeface="Segoe UI"/>
              </a:rPr>
              <a:t>Visitors never hold an account, so there's nothing personal to protect or monetize.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C6CD"/>
                </a:solidFill>
                <a:latin typeface="Segoe UI"/>
              </a:rPr>
              <a:t>SCMS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C6C6CD"/>
                </a:solidFill>
                <a:latin typeface="Segoe U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6A61"/>
                </a:solidFill>
                <a:latin typeface="Segoe UI"/>
              </a:rPr>
              <a:t>ROLLOUT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91C1E"/>
                </a:solidFill>
                <a:latin typeface="Segoe UI"/>
              </a:rPr>
              <a:t>From pilot to permanent fixture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2194560"/>
            <a:ext cx="256032" cy="256032"/>
          </a:xfrm>
          <a:prstGeom prst="ellipse">
            <a:avLst/>
          </a:prstGeom>
          <a:solidFill>
            <a:srgbClr val="006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" y="2304288"/>
            <a:ext cx="3264408" cy="31750"/>
          </a:xfrm>
          <a:prstGeom prst="rect">
            <a:avLst/>
          </a:prstGeom>
          <a:solidFill>
            <a:srgbClr val="86F2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6A61"/>
                </a:solidFill>
                <a:latin typeface="Segoe UI"/>
              </a:rPr>
              <a:t>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71800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91C1E"/>
                </a:solidFill>
                <a:latin typeface="Segoe UI"/>
              </a:rPr>
              <a:t>Pilot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29000"/>
            <a:ext cx="3429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45464D"/>
                </a:solidFill>
                <a:latin typeface="Segoe UI"/>
              </a:rPr>
              <a:t>Deploy on the existing seeded zones and gates during a regular service. Validate with a handful of wardens.</a:t>
            </a:r>
          </a:p>
        </p:txBody>
      </p:sp>
      <p:sp>
        <p:nvSpPr>
          <p:cNvPr id="9" name="Oval 8"/>
          <p:cNvSpPr/>
          <p:nvPr/>
        </p:nvSpPr>
        <p:spPr>
          <a:xfrm>
            <a:off x="4434840" y="2194560"/>
            <a:ext cx="256032" cy="256032"/>
          </a:xfrm>
          <a:prstGeom prst="ellipse">
            <a:avLst/>
          </a:prstGeom>
          <a:solidFill>
            <a:srgbClr val="006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90872" y="2304288"/>
            <a:ext cx="3264408" cy="31750"/>
          </a:xfrm>
          <a:prstGeom prst="rect">
            <a:avLst/>
          </a:prstGeom>
          <a:solidFill>
            <a:srgbClr val="86F2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2651760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6A61"/>
                </a:solidFill>
                <a:latin typeface="Segoe UI"/>
              </a:rPr>
              <a:t>PHASE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971800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91C1E"/>
                </a:solidFill>
                <a:latin typeface="Segoe UI"/>
              </a:rPr>
              <a:t>Flagship event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3429000"/>
            <a:ext cx="3429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45464D"/>
                </a:solidFill>
                <a:latin typeface="Segoe UI"/>
              </a:rPr>
              <a:t>Roll out camp-wide for a major gathering like the Holy Ghost Congress, full deployment, live for attendees.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0" y="2194560"/>
            <a:ext cx="256032" cy="256032"/>
          </a:xfrm>
          <a:prstGeom prst="ellipse">
            <a:avLst/>
          </a:prstGeom>
          <a:solidFill>
            <a:srgbClr val="006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2651760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6A61"/>
                </a:solidFill>
                <a:latin typeface="Segoe UI"/>
              </a:rPr>
              <a:t>PHASE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971800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91C1E"/>
                </a:solidFill>
                <a:latin typeface="Segoe UI"/>
              </a:rPr>
              <a:t>Standing tool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429000"/>
            <a:ext cx="3429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45464D"/>
                </a:solidFill>
                <a:latin typeface="Segoe UI"/>
              </a:rPr>
              <a:t>SCMS becomes Redemption City's permanent operations layer for every event going forward.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C6CD"/>
                </a:solidFill>
                <a:latin typeface="Segoe UI"/>
              </a:rPr>
              <a:t>SCMS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C6C6CD"/>
                </a:solidFill>
                <a:latin typeface="Segoe U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6A61"/>
                </a:solidFill>
                <a:latin typeface="Segoe UI"/>
              </a:rPr>
              <a:t>THE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91C1E"/>
                </a:solidFill>
                <a:latin typeface="Segoe UI"/>
              </a:rPr>
              <a:t>Who built this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03120"/>
            <a:ext cx="3520440" cy="3566160"/>
          </a:xfrm>
          <a:prstGeom prst="round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988819" y="2423160"/>
            <a:ext cx="822960" cy="822960"/>
          </a:xfrm>
          <a:prstGeom prst="ellipse">
            <a:avLst/>
          </a:prstGeom>
          <a:solidFill>
            <a:srgbClr val="006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PA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29000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91C1E"/>
                </a:solidFill>
                <a:latin typeface="Segoe UI"/>
              </a:rPr>
              <a:t>Praise Adebayo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9476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6A61"/>
                </a:solidFill>
                <a:latin typeface="Segoe UI"/>
              </a:rPr>
              <a:t>Backend Engineer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206240"/>
            <a:ext cx="3063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sz="1150" b="0">
                <a:solidFill>
                  <a:srgbClr val="45464D"/>
                </a:solidFill>
                <a:latin typeface="Segoe UI"/>
              </a:rPr>
              <a:t>Authentication, account management, and the campus map data backbone.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103120"/>
            <a:ext cx="3520440" cy="3566160"/>
          </a:xfrm>
          <a:prstGeom prst="round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783580" y="2423160"/>
            <a:ext cx="822960" cy="822960"/>
          </a:xfrm>
          <a:prstGeom prst="ellipse">
            <a:avLst/>
          </a:prstGeom>
          <a:solidFill>
            <a:srgbClr val="006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OA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3429000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91C1E"/>
                </a:solidFill>
                <a:latin typeface="Segoe UI"/>
              </a:rPr>
              <a:t>Olamidipupo Agboola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379476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6A61"/>
                </a:solidFill>
                <a:latin typeface="Segoe UI"/>
              </a:rPr>
              <a:t>System Architect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4206240"/>
            <a:ext cx="3063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sz="1150" b="0">
                <a:solidFill>
                  <a:srgbClr val="45464D"/>
                </a:solidFill>
                <a:latin typeface="Segoe UI"/>
              </a:rPr>
              <a:t>System design, parking and alerts logic, recommendation engine, and the live socket layer.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103120"/>
            <a:ext cx="3520440" cy="3566160"/>
          </a:xfrm>
          <a:prstGeom prst="round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578340" y="2423160"/>
            <a:ext cx="822960" cy="822960"/>
          </a:xfrm>
          <a:prstGeom prst="ellipse">
            <a:avLst/>
          </a:prstGeom>
          <a:solidFill>
            <a:srgbClr val="006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OA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429000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91C1E"/>
                </a:solidFill>
                <a:latin typeface="Segoe UI"/>
              </a:rPr>
              <a:t>Olorunfunminiyi Akinlua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79476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6A61"/>
                </a:solidFill>
                <a:latin typeface="Segoe UI"/>
              </a:rPr>
              <a:t>Frontend Engineer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4206240"/>
            <a:ext cx="3063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sz="1150" b="0">
                <a:solidFill>
                  <a:srgbClr val="45464D"/>
                </a:solidFill>
                <a:latin typeface="Segoe UI"/>
              </a:rPr>
              <a:t>The mobile experience for visitors, drivers, wardens, and camp admin.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C6CD"/>
                </a:solidFill>
                <a:latin typeface="Segoe UI"/>
              </a:rPr>
              <a:t>SCMS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C6C6CD"/>
                </a:solidFill>
                <a:latin typeface="Segoe U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06A61"/>
            </a:gs>
            <a:gs pos="100000">
              <a:srgbClr val="00453F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19456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FFFFFF"/>
                </a:solidFill>
                <a:latin typeface="Segoe UI"/>
              </a:rPr>
              <a:t>SCMS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383280"/>
            <a:ext cx="85340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</a:pPr>
            <a:r>
              <a:rPr sz="1500" b="0">
                <a:solidFill>
                  <a:srgbClr val="D4F5F0"/>
                </a:solidFill>
                <a:latin typeface="Segoe UI"/>
              </a:rPr>
              <a:t>A real-time mobility and safety layer for Redemption City, built on the camp's actual zones, gates, and landmarks, ready to pilot at the next event.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93776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86F2E4"/>
                </a:solidFill>
                <a:latin typeface="Segoe UI"/>
              </a:rPr>
              <a:t>github.com/PraiseKeyz/SCMS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